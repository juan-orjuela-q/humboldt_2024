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1573212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jA/PKJlq69IJEC7b+OVZorXgwY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668" y="-12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title"/>
          </p:nvPr>
        </p:nvSpPr>
        <p:spPr>
          <a:xfrm>
            <a:off x="838200" y="837593"/>
            <a:ext cx="10515600" cy="304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body" idx="1"/>
          </p:nvPr>
        </p:nvSpPr>
        <p:spPr>
          <a:xfrm>
            <a:off x="838200" y="4187950"/>
            <a:ext cx="10515600" cy="9981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14581353"/>
            <a:ext cx="41148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ctrTitle"/>
          </p:nvPr>
        </p:nvSpPr>
        <p:spPr>
          <a:xfrm>
            <a:off x="914400" y="2574680"/>
            <a:ext cx="10363200" cy="5477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alibri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ubTitle" idx="1"/>
          </p:nvPr>
        </p:nvSpPr>
        <p:spPr>
          <a:xfrm>
            <a:off x="1524000" y="8263009"/>
            <a:ext cx="9144000" cy="3798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sz="2667"/>
            </a:lvl2pPr>
            <a:lvl3pPr lvl="2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4pPr>
            <a:lvl5pPr lvl="4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5pPr>
            <a:lvl6pPr lvl="5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6pPr>
            <a:lvl7pPr lvl="6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7pPr>
            <a:lvl8pPr lvl="7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8pPr>
            <a:lvl9pPr lvl="8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14581353"/>
            <a:ext cx="41148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1" y="3922111"/>
            <a:ext cx="10515600" cy="6544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alibri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1" y="10528147"/>
            <a:ext cx="10515600" cy="3441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14581353"/>
            <a:ext cx="41148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837593"/>
            <a:ext cx="10515600" cy="304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4187950"/>
            <a:ext cx="5181600" cy="9981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4187950"/>
            <a:ext cx="5181600" cy="9981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14581353"/>
            <a:ext cx="41148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837593"/>
            <a:ext cx="10515600" cy="304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9" y="3856557"/>
            <a:ext cx="5157787" cy="189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1pPr>
            <a:lvl2pPr marL="914400" lvl="1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sz="2667" b="1"/>
            </a:lvl2pPr>
            <a:lvl3pPr marL="1371600" lvl="2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3pPr>
            <a:lvl4pPr marL="1828800" lvl="3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4pPr>
            <a:lvl5pPr marL="2286000" lvl="4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5pPr>
            <a:lvl6pPr marL="2743200" lvl="5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6pPr>
            <a:lvl7pPr marL="3200400" lvl="6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7pPr>
            <a:lvl8pPr marL="3657600" lvl="7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8pPr>
            <a:lvl9pPr marL="4114800" lvl="8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9" y="5746595"/>
            <a:ext cx="5157787" cy="845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1" y="3856557"/>
            <a:ext cx="5183188" cy="189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1pPr>
            <a:lvl2pPr marL="914400" lvl="1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sz="2667" b="1"/>
            </a:lvl2pPr>
            <a:lvl3pPr marL="1371600" lvl="2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3pPr>
            <a:lvl4pPr marL="1828800" lvl="3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4pPr>
            <a:lvl5pPr marL="2286000" lvl="4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5pPr>
            <a:lvl6pPr marL="2743200" lvl="5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6pPr>
            <a:lvl7pPr marL="3200400" lvl="6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7pPr>
            <a:lvl8pPr marL="3657600" lvl="7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8pPr>
            <a:lvl9pPr marL="4114800" lvl="8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1" y="5746595"/>
            <a:ext cx="5183188" cy="845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14581353"/>
            <a:ext cx="41148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837593"/>
            <a:ext cx="10515600" cy="304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14581353"/>
            <a:ext cx="41148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14581353"/>
            <a:ext cx="41148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1048808"/>
            <a:ext cx="3932237" cy="3670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Calibri"/>
              <a:buNone/>
              <a:defRPr sz="42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2265138"/>
            <a:ext cx="6172200" cy="11180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99554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marL="914400" lvl="1" indent="-465645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2pPr>
            <a:lvl3pPr marL="1371600" lvl="2" indent="-4318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marL="1828800" lvl="3" indent="-397954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4pPr>
            <a:lvl5pPr marL="2286000" lvl="4" indent="-397954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5pPr>
            <a:lvl6pPr marL="2743200" lvl="5" indent="-397954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marL="3200400" lvl="6" indent="-397954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marL="3657600" lvl="7" indent="-397954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marL="4114800" lvl="8" indent="-397954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4719638"/>
            <a:ext cx="3932237" cy="874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1pPr>
            <a:lvl2pPr marL="914400" lvl="1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2pPr>
            <a:lvl3pPr marL="1371600" lvl="2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4pPr>
            <a:lvl5pPr marL="2286000" lvl="4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5pPr>
            <a:lvl6pPr marL="2743200" lvl="5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6pPr>
            <a:lvl7pPr marL="3200400" lvl="6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7pPr>
            <a:lvl8pPr marL="3657600" lvl="7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8pPr>
            <a:lvl9pPr marL="4114800" lvl="8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14581353"/>
            <a:ext cx="41148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1048808"/>
            <a:ext cx="3932237" cy="3670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67"/>
              <a:buFont typeface="Calibri"/>
              <a:buNone/>
              <a:defRPr sz="42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2265138"/>
            <a:ext cx="6172200" cy="1118000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4719638"/>
            <a:ext cx="3932237" cy="874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sz="2133"/>
            </a:lvl1pPr>
            <a:lvl2pPr marL="914400" lvl="1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2pPr>
            <a:lvl3pPr marL="1371600" lvl="2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4pPr>
            <a:lvl5pPr marL="2286000" lvl="4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5pPr>
            <a:lvl6pPr marL="2743200" lvl="5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6pPr>
            <a:lvl7pPr marL="3200400" lvl="6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7pPr>
            <a:lvl8pPr marL="3657600" lvl="7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8pPr>
            <a:lvl9pPr marL="4114800" lvl="8" indent="-2286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14581353"/>
            <a:ext cx="41148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837593"/>
            <a:ext cx="10515600" cy="304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1105055" y="3921095"/>
            <a:ext cx="998188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14581353"/>
            <a:ext cx="41148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3373227" y="6189264"/>
            <a:ext cx="13332249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-1960773" y="3636564"/>
            <a:ext cx="13332249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14581353"/>
            <a:ext cx="41148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837593"/>
            <a:ext cx="10515600" cy="304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sz="5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4187950"/>
            <a:ext cx="10515600" cy="9981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65645" algn="l" rtl="0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•"/>
              <a:defRPr sz="37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1800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97954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81000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81000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81000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81000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14581353"/>
            <a:ext cx="41148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14581353"/>
            <a:ext cx="2743200" cy="8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9068064" y="587959"/>
            <a:ext cx="525117" cy="13434040"/>
          </a:xfrm>
          <a:prstGeom prst="leftRightArrowCallout">
            <a:avLst>
              <a:gd name="adj1" fmla="val 25000"/>
              <a:gd name="adj2" fmla="val 25000"/>
              <a:gd name="adj3" fmla="val 25000"/>
              <a:gd name="adj4" fmla="val 48123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655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 rot="-5400000">
            <a:off x="4897375" y="11026347"/>
            <a:ext cx="436800" cy="8014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655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" name="Google Shape;86;p1"/>
          <p:cNvGrpSpPr/>
          <p:nvPr/>
        </p:nvGrpSpPr>
        <p:grpSpPr>
          <a:xfrm>
            <a:off x="169758" y="426468"/>
            <a:ext cx="2549506" cy="572033"/>
            <a:chOff x="885824" y="393067"/>
            <a:chExt cx="1333086" cy="511045"/>
          </a:xfrm>
        </p:grpSpPr>
        <p:sp>
          <p:nvSpPr>
            <p:cNvPr id="87" name="Google Shape;87;p1"/>
            <p:cNvSpPr/>
            <p:nvPr/>
          </p:nvSpPr>
          <p:spPr>
            <a:xfrm>
              <a:off x="885824" y="428625"/>
              <a:ext cx="1304649" cy="475487"/>
            </a:xfrm>
            <a:prstGeom prst="flowChartAlternateProcess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5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"/>
            <p:cNvSpPr txBox="1"/>
            <p:nvPr/>
          </p:nvSpPr>
          <p:spPr>
            <a:xfrm>
              <a:off x="913890" y="393067"/>
              <a:ext cx="1305020" cy="3258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77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Tierras desnudas</a:t>
              </a:r>
              <a:endParaRPr dirty="0"/>
            </a:p>
          </p:txBody>
        </p:sp>
      </p:grpSp>
      <p:grpSp>
        <p:nvGrpSpPr>
          <p:cNvPr id="89" name="Google Shape;89;p1"/>
          <p:cNvGrpSpPr/>
          <p:nvPr/>
        </p:nvGrpSpPr>
        <p:grpSpPr>
          <a:xfrm>
            <a:off x="5061157" y="3412018"/>
            <a:ext cx="3303255" cy="1698412"/>
            <a:chOff x="885825" y="397175"/>
            <a:chExt cx="1750767" cy="1469972"/>
          </a:xfrm>
        </p:grpSpPr>
        <p:sp>
          <p:nvSpPr>
            <p:cNvPr id="90" name="Google Shape;90;p1"/>
            <p:cNvSpPr/>
            <p:nvPr/>
          </p:nvSpPr>
          <p:spPr>
            <a:xfrm>
              <a:off x="1098047" y="708010"/>
              <a:ext cx="1538545" cy="1159137"/>
            </a:xfrm>
            <a:prstGeom prst="flowChartAlternateProcess">
              <a:avLst/>
            </a:prstGeom>
            <a:solidFill>
              <a:srgbClr val="D8E2F3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252889" marR="0" lvl="0" indent="-252889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23"/>
                <a:buFont typeface="Arial"/>
                <a:buChar char="•"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Nativa: 38</a:t>
              </a:r>
              <a:endParaRPr/>
            </a:p>
            <a:p>
              <a:pPr marL="252889" marR="0" lvl="0" indent="-252889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23"/>
                <a:buFont typeface="Arial"/>
                <a:buChar char="•"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 y cultivada: 8</a:t>
              </a:r>
              <a:endParaRPr/>
            </a:p>
            <a:p>
              <a:pPr marL="252889" marR="0" lvl="0" indent="-252889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23"/>
                <a:buFont typeface="Arial"/>
                <a:buChar char="•"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Cultivos introducidos:  11</a:t>
              </a:r>
              <a:endParaRPr sz="1623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885825" y="428625"/>
              <a:ext cx="1247775" cy="400050"/>
            </a:xfrm>
            <a:prstGeom prst="flowChartAlternateProcess">
              <a:avLst/>
            </a:prstGeom>
            <a:noFill/>
            <a:ln w="127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5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891371" y="397175"/>
              <a:ext cx="1564401" cy="315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77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Policultivo</a:t>
              </a:r>
              <a:endParaRPr dirty="0"/>
            </a:p>
          </p:txBody>
        </p:sp>
      </p:grpSp>
      <p:grpSp>
        <p:nvGrpSpPr>
          <p:cNvPr id="93" name="Google Shape;93;p1"/>
          <p:cNvGrpSpPr/>
          <p:nvPr/>
        </p:nvGrpSpPr>
        <p:grpSpPr>
          <a:xfrm>
            <a:off x="1784305" y="3522594"/>
            <a:ext cx="3250769" cy="1645370"/>
            <a:chOff x="885825" y="418783"/>
            <a:chExt cx="1684445" cy="1322691"/>
          </a:xfrm>
        </p:grpSpPr>
        <p:sp>
          <p:nvSpPr>
            <p:cNvPr id="94" name="Google Shape;94;p1"/>
            <p:cNvSpPr/>
            <p:nvPr/>
          </p:nvSpPr>
          <p:spPr>
            <a:xfrm>
              <a:off x="1098047" y="708011"/>
              <a:ext cx="1472223" cy="1033463"/>
            </a:xfrm>
            <a:prstGeom prst="flowChartAlternateProcess">
              <a:avLst/>
            </a:prstGeom>
            <a:solidFill>
              <a:srgbClr val="D8E2F3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252889" marR="0" lvl="0" indent="-252889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es-CO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Nativa:1 especie</a:t>
              </a:r>
              <a:endParaRPr/>
            </a:p>
            <a:p>
              <a:pPr marL="252889" marR="0" lvl="0" indent="-252889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es-CO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 y cultivada: 9</a:t>
              </a:r>
              <a:endParaRPr/>
            </a:p>
            <a:p>
              <a:pPr marL="252889" marR="0" lvl="0" indent="-252889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</a:pPr>
              <a:r>
                <a:rPr lang="es-CO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Cultivos introducidos : 1</a:t>
              </a:r>
              <a:endParaRPr/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885825" y="428625"/>
              <a:ext cx="1247775" cy="400050"/>
            </a:xfrm>
            <a:prstGeom prst="flowChartAlternateProcess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5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965287" y="418783"/>
              <a:ext cx="1564401" cy="2931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77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Monocultivo</a:t>
              </a:r>
              <a:endParaRPr dirty="0"/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3882443" y="5380483"/>
            <a:ext cx="2832400" cy="1729819"/>
            <a:chOff x="885824" y="393067"/>
            <a:chExt cx="1942927" cy="1437028"/>
          </a:xfrm>
        </p:grpSpPr>
        <p:sp>
          <p:nvSpPr>
            <p:cNvPr id="98" name="Google Shape;98;p1"/>
            <p:cNvSpPr/>
            <p:nvPr/>
          </p:nvSpPr>
          <p:spPr>
            <a:xfrm>
              <a:off x="1137704" y="796632"/>
              <a:ext cx="1691047" cy="1033463"/>
            </a:xfrm>
            <a:prstGeom prst="flowChartAlternateProcess">
              <a:avLst/>
            </a:prstGeom>
            <a:solidFill>
              <a:srgbClr val="FBE4D4"/>
            </a:solidFill>
            <a:ln w="12700" cap="flat" cmpd="sng">
              <a:solidFill>
                <a:srgbClr val="64341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252889" marR="0" lvl="0" indent="-252889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74"/>
                <a:buFont typeface="Arial"/>
                <a:buChar char="•"/>
              </a:pPr>
              <a:r>
                <a:rPr lang="es-CO" sz="1574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Nativa:23</a:t>
              </a:r>
              <a:endParaRPr/>
            </a:p>
            <a:p>
              <a:pPr marL="252889" marR="0" lvl="0" indent="-252889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74"/>
                <a:buFont typeface="Arial"/>
                <a:buChar char="•"/>
              </a:pPr>
              <a:r>
                <a:rPr lang="es-CO" sz="1574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 y cultivada:3</a:t>
              </a:r>
              <a:endParaRPr/>
            </a:p>
            <a:p>
              <a:pPr marL="252889" marR="0" lvl="0" indent="-252889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Char char="•"/>
              </a:pPr>
              <a:r>
                <a:rPr lang="es-CO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Cultivos introducidos:</a:t>
              </a:r>
              <a:r>
                <a:rPr lang="es-CO" sz="1574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574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885824" y="428625"/>
              <a:ext cx="1304649" cy="475487"/>
            </a:xfrm>
            <a:prstGeom prst="flowChartAlternateProcess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5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913890" y="393067"/>
              <a:ext cx="1305020" cy="3029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77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Pastizales</a:t>
              </a:r>
              <a:endParaRPr/>
            </a:p>
          </p:txBody>
        </p:sp>
      </p:grpSp>
      <p:grpSp>
        <p:nvGrpSpPr>
          <p:cNvPr id="101" name="Google Shape;101;p1"/>
          <p:cNvGrpSpPr/>
          <p:nvPr/>
        </p:nvGrpSpPr>
        <p:grpSpPr>
          <a:xfrm>
            <a:off x="3689236" y="9356468"/>
            <a:ext cx="2985065" cy="1641170"/>
            <a:chOff x="869321" y="428625"/>
            <a:chExt cx="1774905" cy="1312849"/>
          </a:xfrm>
        </p:grpSpPr>
        <p:sp>
          <p:nvSpPr>
            <p:cNvPr id="102" name="Google Shape;102;p1"/>
            <p:cNvSpPr/>
            <p:nvPr/>
          </p:nvSpPr>
          <p:spPr>
            <a:xfrm>
              <a:off x="1098047" y="708011"/>
              <a:ext cx="1546179" cy="1033463"/>
            </a:xfrm>
            <a:prstGeom prst="flowChartAlternateProcess">
              <a:avLst/>
            </a:prstGeom>
            <a:solidFill>
              <a:srgbClr val="D8E2F3"/>
            </a:solidFill>
            <a:ln w="127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23"/>
                <a:buFont typeface="Arial"/>
                <a:buChar char="•"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Nativa: 46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23"/>
                <a:buFont typeface="Arial"/>
                <a:buChar char="•"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 y cultivada: 9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23"/>
                <a:buFont typeface="Arial"/>
                <a:buChar char="•"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Cultivos introducidos: 7</a:t>
              </a:r>
              <a:endParaRPr/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885825" y="428625"/>
              <a:ext cx="1247775" cy="400050"/>
            </a:xfrm>
            <a:prstGeom prst="flowChartAlternateProcess">
              <a:avLst/>
            </a:prstGeom>
            <a:noFill/>
            <a:ln w="127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5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869321" y="440080"/>
              <a:ext cx="1564401" cy="315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77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Agrosilvícola</a:t>
              </a:r>
              <a:endParaRPr sz="177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"/>
          <p:cNvGrpSpPr/>
          <p:nvPr/>
        </p:nvGrpSpPr>
        <p:grpSpPr>
          <a:xfrm>
            <a:off x="4997525" y="7467486"/>
            <a:ext cx="3025725" cy="1527178"/>
            <a:chOff x="885825" y="419706"/>
            <a:chExt cx="1776623" cy="1321768"/>
          </a:xfrm>
        </p:grpSpPr>
        <p:sp>
          <p:nvSpPr>
            <p:cNvPr id="106" name="Google Shape;106;p1"/>
            <p:cNvSpPr/>
            <p:nvPr/>
          </p:nvSpPr>
          <p:spPr>
            <a:xfrm>
              <a:off x="1098047" y="708011"/>
              <a:ext cx="1564401" cy="1033463"/>
            </a:xfrm>
            <a:prstGeom prst="flowChartAlternateProcess">
              <a:avLst/>
            </a:prstGeom>
            <a:solidFill>
              <a:srgbClr val="D8E2F3"/>
            </a:solidFill>
            <a:ln w="127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23"/>
                <a:buFont typeface="Arial"/>
                <a:buChar char="•"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Nativa:6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23"/>
                <a:buFont typeface="Arial"/>
                <a:buChar char="•"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 y cultivada: 4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23"/>
                <a:buFont typeface="Arial"/>
                <a:buChar char="•"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Cultivos introducidos: 5</a:t>
              </a:r>
              <a:endParaRPr/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885825" y="428624"/>
              <a:ext cx="1473704" cy="468712"/>
            </a:xfrm>
            <a:prstGeom prst="flowChartAlternateProcess">
              <a:avLst/>
            </a:prstGeom>
            <a:noFill/>
            <a:ln w="127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5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898760" y="419706"/>
              <a:ext cx="1704338" cy="315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77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Huerto mixto casero</a:t>
              </a:r>
              <a:endParaRPr/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454820" y="7570109"/>
            <a:ext cx="2794814" cy="1525131"/>
            <a:chOff x="885825" y="421478"/>
            <a:chExt cx="1725710" cy="1319996"/>
          </a:xfrm>
        </p:grpSpPr>
        <p:sp>
          <p:nvSpPr>
            <p:cNvPr id="110" name="Google Shape;110;p1"/>
            <p:cNvSpPr/>
            <p:nvPr/>
          </p:nvSpPr>
          <p:spPr>
            <a:xfrm>
              <a:off x="981447" y="708011"/>
              <a:ext cx="1630088" cy="1033463"/>
            </a:xfrm>
            <a:prstGeom prst="flowChartAlternateProcess">
              <a:avLst/>
            </a:prstGeom>
            <a:solidFill>
              <a:srgbClr val="D8E2F3"/>
            </a:solidFill>
            <a:ln w="127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23"/>
                <a:buFont typeface="Arial"/>
                <a:buChar char="•"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Nativa: 11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23"/>
                <a:buFont typeface="Arial"/>
                <a:buChar char="•"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 y cultivada: 1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23"/>
                <a:buFont typeface="Arial"/>
                <a:buChar char="•"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Cultivos introducidos: 1</a:t>
              </a:r>
              <a:endParaRPr/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885825" y="428625"/>
              <a:ext cx="1247775" cy="400050"/>
            </a:xfrm>
            <a:prstGeom prst="flowChartAlternateProcess">
              <a:avLst/>
            </a:prstGeom>
            <a:noFill/>
            <a:ln w="12700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5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"/>
            <p:cNvSpPr txBox="1"/>
            <p:nvPr/>
          </p:nvSpPr>
          <p:spPr>
            <a:xfrm>
              <a:off x="931895" y="421478"/>
              <a:ext cx="1564401" cy="315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77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Silvopastoril</a:t>
              </a:r>
              <a:endParaRPr/>
            </a:p>
          </p:txBody>
        </p:sp>
      </p:grpSp>
      <p:grpSp>
        <p:nvGrpSpPr>
          <p:cNvPr id="113" name="Google Shape;113;p1"/>
          <p:cNvGrpSpPr/>
          <p:nvPr/>
        </p:nvGrpSpPr>
        <p:grpSpPr>
          <a:xfrm>
            <a:off x="9430399" y="5380466"/>
            <a:ext cx="2761613" cy="1516866"/>
            <a:chOff x="885825" y="428625"/>
            <a:chExt cx="1660022" cy="1312849"/>
          </a:xfrm>
        </p:grpSpPr>
        <p:sp>
          <p:nvSpPr>
            <p:cNvPr id="114" name="Google Shape;114;p1"/>
            <p:cNvSpPr/>
            <p:nvPr/>
          </p:nvSpPr>
          <p:spPr>
            <a:xfrm>
              <a:off x="1098047" y="708011"/>
              <a:ext cx="1447800" cy="1033463"/>
            </a:xfrm>
            <a:prstGeom prst="flowChartAlternateProcess">
              <a:avLst/>
            </a:prstGeom>
            <a:solidFill>
              <a:srgbClr val="D8E2F3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Nativa:</a:t>
              </a:r>
              <a:r>
                <a:rPr lang="es-CO" sz="162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 y cultivada: </a:t>
              </a:r>
              <a:r>
                <a:rPr lang="es-CO" sz="162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885825" y="428625"/>
              <a:ext cx="1247775" cy="400050"/>
            </a:xfrm>
            <a:prstGeom prst="flowChartAlternateProcess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5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"/>
            <p:cNvSpPr txBox="1"/>
            <p:nvPr/>
          </p:nvSpPr>
          <p:spPr>
            <a:xfrm>
              <a:off x="968041" y="447944"/>
              <a:ext cx="1564500" cy="3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77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Cercas vivas</a:t>
              </a:r>
              <a:endParaRPr/>
            </a:p>
          </p:txBody>
        </p:sp>
      </p:grpSp>
      <p:grpSp>
        <p:nvGrpSpPr>
          <p:cNvPr id="117" name="Google Shape;117;p1"/>
          <p:cNvGrpSpPr/>
          <p:nvPr/>
        </p:nvGrpSpPr>
        <p:grpSpPr>
          <a:xfrm>
            <a:off x="6674301" y="13051566"/>
            <a:ext cx="2448533" cy="1567468"/>
            <a:chOff x="885825" y="421645"/>
            <a:chExt cx="1660022" cy="1356639"/>
          </a:xfrm>
        </p:grpSpPr>
        <p:sp>
          <p:nvSpPr>
            <p:cNvPr id="118" name="Google Shape;118;p1"/>
            <p:cNvSpPr/>
            <p:nvPr/>
          </p:nvSpPr>
          <p:spPr>
            <a:xfrm>
              <a:off x="953783" y="744821"/>
              <a:ext cx="1592064" cy="1033463"/>
            </a:xfrm>
            <a:prstGeom prst="flowChartAlternateProcess">
              <a:avLst/>
            </a:prstGeom>
            <a:solidFill>
              <a:srgbClr val="FBE4D4"/>
            </a:solidFill>
            <a:ln w="12700" cap="flat" cmpd="sng">
              <a:solidFill>
                <a:srgbClr val="64341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Nativa:54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 y cultivada: 7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Cultivos introducidos: 1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2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885825" y="428625"/>
              <a:ext cx="1247775" cy="400050"/>
            </a:xfrm>
            <a:prstGeom prst="flowChartAlternateProcess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5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 txBox="1"/>
            <p:nvPr/>
          </p:nvSpPr>
          <p:spPr>
            <a:xfrm>
              <a:off x="913312" y="421645"/>
              <a:ext cx="1564401" cy="315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77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Bosques</a:t>
              </a:r>
              <a:endParaRPr/>
            </a:p>
          </p:txBody>
        </p:sp>
      </p:grpSp>
      <p:grpSp>
        <p:nvGrpSpPr>
          <p:cNvPr id="121" name="Google Shape;121;p1"/>
          <p:cNvGrpSpPr/>
          <p:nvPr/>
        </p:nvGrpSpPr>
        <p:grpSpPr>
          <a:xfrm>
            <a:off x="5792710" y="11172114"/>
            <a:ext cx="2903392" cy="1665727"/>
            <a:chOff x="775410" y="428625"/>
            <a:chExt cx="1770437" cy="1441683"/>
          </a:xfrm>
        </p:grpSpPr>
        <p:sp>
          <p:nvSpPr>
            <p:cNvPr id="122" name="Google Shape;122;p1"/>
            <p:cNvSpPr/>
            <p:nvPr/>
          </p:nvSpPr>
          <p:spPr>
            <a:xfrm>
              <a:off x="1098047" y="836845"/>
              <a:ext cx="1447800" cy="1033463"/>
            </a:xfrm>
            <a:prstGeom prst="flowChartAlternateProcess">
              <a:avLst/>
            </a:prstGeom>
            <a:solidFill>
              <a:srgbClr val="FBE4D4"/>
            </a:solidFill>
            <a:ln w="12700" cap="flat" cmpd="sng">
              <a:solidFill>
                <a:srgbClr val="64341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Nativa:32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 y cultivada: 1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Cultivos introducidos: 2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Naturalizada</a:t>
              </a:r>
              <a:endParaRPr/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775410" y="428625"/>
              <a:ext cx="1683805" cy="466716"/>
            </a:xfrm>
            <a:prstGeom prst="flowChartAlternateProcess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5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781061" y="442598"/>
              <a:ext cx="1726985" cy="315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77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Vegetación secundaria alta</a:t>
              </a:r>
              <a:endParaRPr/>
            </a:p>
          </p:txBody>
        </p:sp>
      </p:grpSp>
      <p:grpSp>
        <p:nvGrpSpPr>
          <p:cNvPr id="125" name="Google Shape;125;p1"/>
          <p:cNvGrpSpPr/>
          <p:nvPr/>
        </p:nvGrpSpPr>
        <p:grpSpPr>
          <a:xfrm>
            <a:off x="2291417" y="11259620"/>
            <a:ext cx="4223345" cy="1593691"/>
            <a:chOff x="467676" y="404147"/>
            <a:chExt cx="2863283" cy="1379336"/>
          </a:xfrm>
        </p:grpSpPr>
        <p:sp>
          <p:nvSpPr>
            <p:cNvPr id="126" name="Google Shape;126;p1"/>
            <p:cNvSpPr/>
            <p:nvPr/>
          </p:nvSpPr>
          <p:spPr>
            <a:xfrm>
              <a:off x="767226" y="750020"/>
              <a:ext cx="1806874" cy="1033463"/>
            </a:xfrm>
            <a:prstGeom prst="flowChartAlternateProcess">
              <a:avLst/>
            </a:prstGeom>
            <a:solidFill>
              <a:srgbClr val="FBE4D4"/>
            </a:solidFill>
            <a:ln w="12700" cap="flat" cmpd="sng">
              <a:solidFill>
                <a:srgbClr val="64341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Nativa:65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 y cultivada: 5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623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Cultivos introducidos: 3</a:t>
              </a:r>
              <a:endParaRPr/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467676" y="431873"/>
              <a:ext cx="2003439" cy="428240"/>
            </a:xfrm>
            <a:prstGeom prst="flowChartAlternateProcess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5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"/>
            <p:cNvSpPr txBox="1"/>
            <p:nvPr/>
          </p:nvSpPr>
          <p:spPr>
            <a:xfrm>
              <a:off x="472906" y="404147"/>
              <a:ext cx="2858053" cy="315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77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Vegetación secundaria baja</a:t>
              </a:r>
              <a:endParaRPr/>
            </a:p>
          </p:txBody>
        </p:sp>
      </p:grpSp>
      <p:grpSp>
        <p:nvGrpSpPr>
          <p:cNvPr id="129" name="Google Shape;129;p1"/>
          <p:cNvGrpSpPr/>
          <p:nvPr/>
        </p:nvGrpSpPr>
        <p:grpSpPr>
          <a:xfrm>
            <a:off x="602368" y="1408832"/>
            <a:ext cx="3180670" cy="1538748"/>
            <a:chOff x="885824" y="393067"/>
            <a:chExt cx="1818272" cy="1374691"/>
          </a:xfrm>
        </p:grpSpPr>
        <p:sp>
          <p:nvSpPr>
            <p:cNvPr id="130" name="Google Shape;130;p1"/>
            <p:cNvSpPr/>
            <p:nvPr/>
          </p:nvSpPr>
          <p:spPr>
            <a:xfrm>
              <a:off x="1121067" y="734295"/>
              <a:ext cx="1583029" cy="1033463"/>
            </a:xfrm>
            <a:prstGeom prst="flowChartAlternateProcess">
              <a:avLst/>
            </a:prstGeom>
            <a:solidFill>
              <a:srgbClr val="FBE4D4"/>
            </a:solidFill>
            <a:ln w="12700" cap="flat" cmpd="sng">
              <a:solidFill>
                <a:srgbClr val="64341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252889" marR="0" lvl="0" indent="-252889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98"/>
                <a:buFont typeface="Arial"/>
                <a:buChar char="•"/>
              </a:pPr>
              <a:r>
                <a:rPr lang="es-CO" sz="1798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Nativa: 2</a:t>
              </a:r>
              <a:endParaRPr/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885824" y="428625"/>
              <a:ext cx="1304649" cy="475487"/>
            </a:xfrm>
            <a:prstGeom prst="flowChartAlternateProcess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5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"/>
            <p:cNvSpPr txBox="1"/>
            <p:nvPr/>
          </p:nvSpPr>
          <p:spPr>
            <a:xfrm>
              <a:off x="913889" y="393067"/>
              <a:ext cx="1398822" cy="3258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77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Terreno en preparación</a:t>
              </a:r>
              <a:endParaRPr/>
            </a:p>
          </p:txBody>
        </p:sp>
      </p:grpSp>
      <p:grpSp>
        <p:nvGrpSpPr>
          <p:cNvPr id="133" name="Google Shape;133;p1"/>
          <p:cNvGrpSpPr/>
          <p:nvPr/>
        </p:nvGrpSpPr>
        <p:grpSpPr>
          <a:xfrm>
            <a:off x="4179181" y="1343094"/>
            <a:ext cx="3158498" cy="1538748"/>
            <a:chOff x="885824" y="393067"/>
            <a:chExt cx="1651516" cy="1374691"/>
          </a:xfrm>
        </p:grpSpPr>
        <p:sp>
          <p:nvSpPr>
            <p:cNvPr id="134" name="Google Shape;134;p1"/>
            <p:cNvSpPr/>
            <p:nvPr/>
          </p:nvSpPr>
          <p:spPr>
            <a:xfrm>
              <a:off x="1121067" y="734295"/>
              <a:ext cx="1416273" cy="1033463"/>
            </a:xfrm>
            <a:prstGeom prst="flowChartAlternateProcess">
              <a:avLst/>
            </a:prstGeom>
            <a:solidFill>
              <a:srgbClr val="FBE4D4"/>
            </a:solidFill>
            <a:ln w="12700" cap="flat" cmpd="sng">
              <a:solidFill>
                <a:srgbClr val="64341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252889" marR="0" lvl="0" indent="-252889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98"/>
                <a:buFont typeface="Arial"/>
                <a:buChar char="•"/>
              </a:pPr>
              <a:r>
                <a:rPr lang="es-CO" sz="1798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Nativa: 1</a:t>
              </a:r>
              <a:endParaRPr/>
            </a:p>
            <a:p>
              <a:pPr marL="252889" marR="0" lvl="0" indent="-252889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98"/>
                <a:buFont typeface="Arial"/>
                <a:buChar char="•"/>
              </a:pPr>
              <a:r>
                <a:rPr lang="es-CO" sz="1798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Nativa y cultivada: 2</a:t>
              </a:r>
              <a:endParaRPr/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885824" y="428625"/>
              <a:ext cx="1304649" cy="475487"/>
            </a:xfrm>
            <a:prstGeom prst="flowChartAlternateProcess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65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"/>
            <p:cNvSpPr txBox="1"/>
            <p:nvPr/>
          </p:nvSpPr>
          <p:spPr>
            <a:xfrm>
              <a:off x="913890" y="393067"/>
              <a:ext cx="1305020" cy="3258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77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Terreno en barbecho</a:t>
              </a:r>
              <a:endParaRPr dirty="0"/>
            </a:p>
          </p:txBody>
        </p:sp>
      </p:grpSp>
      <p:sp>
        <p:nvSpPr>
          <p:cNvPr id="137" name="Google Shape;137;p1"/>
          <p:cNvSpPr/>
          <p:nvPr/>
        </p:nvSpPr>
        <p:spPr>
          <a:xfrm>
            <a:off x="9122834" y="14288509"/>
            <a:ext cx="657363" cy="850604"/>
          </a:xfrm>
          <a:prstGeom prst="mathPlus">
            <a:avLst>
              <a:gd name="adj1" fmla="val 2352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70740" y="14604657"/>
            <a:ext cx="770252" cy="494791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"/>
          <p:cNvSpPr/>
          <p:nvPr/>
        </p:nvSpPr>
        <p:spPr>
          <a:xfrm>
            <a:off x="8890522" y="76242"/>
            <a:ext cx="770252" cy="494791"/>
          </a:xfrm>
          <a:prstGeom prst="mathMinus">
            <a:avLst>
              <a:gd name="adj1" fmla="val 2352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4097705" y="15237662"/>
            <a:ext cx="25132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Complejidad</a:t>
            </a:r>
            <a:endParaRPr/>
          </a:p>
        </p:txBody>
      </p:sp>
      <p:sp>
        <p:nvSpPr>
          <p:cNvPr id="141" name="Google Shape;141;p1"/>
          <p:cNvSpPr txBox="1"/>
          <p:nvPr/>
        </p:nvSpPr>
        <p:spPr>
          <a:xfrm rot="-5400000">
            <a:off x="7526542" y="6821797"/>
            <a:ext cx="25132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Complejidad</a:t>
            </a:r>
            <a:endParaRPr/>
          </a:p>
        </p:txBody>
      </p:sp>
      <p:sp>
        <p:nvSpPr>
          <p:cNvPr id="142" name="Google Shape;142;p1"/>
          <p:cNvSpPr/>
          <p:nvPr/>
        </p:nvSpPr>
        <p:spPr>
          <a:xfrm>
            <a:off x="1683875" y="9202750"/>
            <a:ext cx="1576200" cy="1894200"/>
          </a:xfrm>
          <a:prstGeom prst="roundRect">
            <a:avLst>
              <a:gd name="adj" fmla="val 10000"/>
            </a:avLst>
          </a:prstGeom>
          <a:blipFill rotWithShape="1">
            <a:blip r:embed="rId3">
              <a:alphaModFix/>
            </a:blip>
            <a:stretch>
              <a:fillRect l="-17999" r="-17999"/>
            </a:stretch>
          </a:blip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"/>
          <p:cNvSpPr/>
          <p:nvPr/>
        </p:nvSpPr>
        <p:spPr>
          <a:xfrm>
            <a:off x="7103363" y="5289800"/>
            <a:ext cx="1576200" cy="1998300"/>
          </a:xfrm>
          <a:prstGeom prst="roundRect">
            <a:avLst>
              <a:gd name="adj" fmla="val 10000"/>
            </a:avLst>
          </a:prstGeom>
          <a:blipFill rotWithShape="1">
            <a:blip r:embed="rId4">
              <a:alphaModFix/>
            </a:blip>
            <a:stretch>
              <a:fillRect l="-17999" r="-17999"/>
            </a:stretch>
          </a:blip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"/>
          <p:cNvSpPr/>
          <p:nvPr/>
        </p:nvSpPr>
        <p:spPr>
          <a:xfrm>
            <a:off x="1683875" y="5504175"/>
            <a:ext cx="1576200" cy="1729800"/>
          </a:xfrm>
          <a:prstGeom prst="roundRect">
            <a:avLst>
              <a:gd name="adj" fmla="val 10000"/>
            </a:avLst>
          </a:prstGeom>
          <a:blipFill rotWithShape="1">
            <a:blip r:embed="rId5">
              <a:alphaModFix/>
            </a:blip>
            <a:stretch>
              <a:fillRect l="-27998" r="-27998"/>
            </a:stretch>
          </a:blip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"/>
          <p:cNvSpPr/>
          <p:nvPr/>
        </p:nvSpPr>
        <p:spPr>
          <a:xfrm>
            <a:off x="7332477" y="9286577"/>
            <a:ext cx="1437300" cy="1593600"/>
          </a:xfrm>
          <a:prstGeom prst="roundRect">
            <a:avLst>
              <a:gd name="adj" fmla="val 10000"/>
            </a:avLst>
          </a:prstGeom>
          <a:blipFill rotWithShape="1">
            <a:blip r:embed="rId6">
              <a:alphaModFix/>
            </a:blip>
            <a:stretch>
              <a:fillRect l="-28998" r="-28998"/>
            </a:stretch>
          </a:blip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"/>
          <p:cNvSpPr/>
          <p:nvPr/>
        </p:nvSpPr>
        <p:spPr>
          <a:xfrm>
            <a:off x="534625" y="3510250"/>
            <a:ext cx="996300" cy="1188600"/>
          </a:xfrm>
          <a:prstGeom prst="roundRect">
            <a:avLst>
              <a:gd name="adj" fmla="val 10000"/>
            </a:avLst>
          </a:prstGeom>
          <a:blipFill rotWithShape="1">
            <a:blip r:embed="rId7">
              <a:alphaModFix/>
            </a:blip>
            <a:stretch>
              <a:fillRect t="-28998" b="-28998"/>
            </a:stretch>
          </a:blip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E1B77E5-C9C9-18B7-6935-B8AD657C15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73"/>
          <a:stretch>
            <a:fillRect/>
          </a:stretch>
        </p:blipFill>
        <p:spPr bwMode="auto">
          <a:xfrm>
            <a:off x="0" y="8040687"/>
            <a:ext cx="12218195" cy="769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88;p1">
            <a:extLst>
              <a:ext uri="{FF2B5EF4-FFF2-40B4-BE49-F238E27FC236}">
                <a16:creationId xmlns:a16="http://schemas.microsoft.com/office/drawing/2014/main" id="{985B16E6-6B60-F86F-B293-860103C87B18}"/>
              </a:ext>
            </a:extLst>
          </p:cNvPr>
          <p:cNvSpPr txBox="1"/>
          <p:nvPr/>
        </p:nvSpPr>
        <p:spPr>
          <a:xfrm>
            <a:off x="-590552" y="12637470"/>
            <a:ext cx="1419225" cy="637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7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Terreno en preparación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Google Shape;136;p1">
            <a:extLst>
              <a:ext uri="{FF2B5EF4-FFF2-40B4-BE49-F238E27FC236}">
                <a16:creationId xmlns:a16="http://schemas.microsoft.com/office/drawing/2014/main" id="{F3982E1E-B95F-138E-FA1A-44CBC6F01438}"/>
              </a:ext>
            </a:extLst>
          </p:cNvPr>
          <p:cNvSpPr txBox="1"/>
          <p:nvPr/>
        </p:nvSpPr>
        <p:spPr>
          <a:xfrm>
            <a:off x="119061" y="11314290"/>
            <a:ext cx="1419225" cy="637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7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Terreno en barbecho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Google Shape;96;p1">
            <a:extLst>
              <a:ext uri="{FF2B5EF4-FFF2-40B4-BE49-F238E27FC236}">
                <a16:creationId xmlns:a16="http://schemas.microsoft.com/office/drawing/2014/main" id="{74B4FDDC-DF21-0805-4C0E-57B45C72A2F0}"/>
              </a:ext>
            </a:extLst>
          </p:cNvPr>
          <p:cNvSpPr txBox="1"/>
          <p:nvPr/>
        </p:nvSpPr>
        <p:spPr>
          <a:xfrm>
            <a:off x="1838325" y="11268144"/>
            <a:ext cx="1462768" cy="36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7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Monocultivo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Google Shape;92;p1">
            <a:extLst>
              <a:ext uri="{FF2B5EF4-FFF2-40B4-BE49-F238E27FC236}">
                <a16:creationId xmlns:a16="http://schemas.microsoft.com/office/drawing/2014/main" id="{33AD29D8-F365-F9DB-BDC8-D836506E6CF0}"/>
              </a:ext>
            </a:extLst>
          </p:cNvPr>
          <p:cNvSpPr txBox="1"/>
          <p:nvPr/>
        </p:nvSpPr>
        <p:spPr>
          <a:xfrm>
            <a:off x="2305050" y="12955998"/>
            <a:ext cx="1319654" cy="36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7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Policultivo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Google Shape;92;p1">
            <a:extLst>
              <a:ext uri="{FF2B5EF4-FFF2-40B4-BE49-F238E27FC236}">
                <a16:creationId xmlns:a16="http://schemas.microsoft.com/office/drawing/2014/main" id="{D1C05E84-A79D-9BCD-83F9-FA72EFA96CB2}"/>
              </a:ext>
            </a:extLst>
          </p:cNvPr>
          <p:cNvSpPr txBox="1"/>
          <p:nvPr/>
        </p:nvSpPr>
        <p:spPr>
          <a:xfrm>
            <a:off x="2729593" y="14571351"/>
            <a:ext cx="1319654" cy="36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177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Pastizales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3261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</Words>
  <Application>Microsoft Office PowerPoint</Application>
  <PresentationFormat>Custom</PresentationFormat>
  <Paragraphs>53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Tema de 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Monica Andrea Florez Pulido</dc:creator>
  <cp:lastModifiedBy>Revisor Humboldt</cp:lastModifiedBy>
  <cp:revision>1</cp:revision>
  <dcterms:created xsi:type="dcterms:W3CDTF">2025-01-14T19:52:36Z</dcterms:created>
  <dcterms:modified xsi:type="dcterms:W3CDTF">2025-07-14T16:52:23Z</dcterms:modified>
</cp:coreProperties>
</file>